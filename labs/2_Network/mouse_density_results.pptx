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72" r:id="rId9"/>
    <p:sldId id="268" r:id="rId10"/>
    <p:sldId id="264" r:id="rId11"/>
    <p:sldId id="265" r:id="rId12"/>
    <p:sldId id="266" r:id="rId13"/>
    <p:sldId id="269" r:id="rId14"/>
    <p:sldId id="270" r:id="rId15"/>
    <p:sldId id="271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1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FB7D544-41A0-E23D-6CC5-19B1BE243E5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37835" y="71879"/>
            <a:ext cx="11363929" cy="7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940349" y="288036"/>
            <a:ext cx="1554480" cy="310896"/>
          </a:xfrm>
          <a:prstGeom prst="roundRect">
            <a:avLst/>
          </a:prstGeom>
          <a:solidFill>
            <a:srgbClr val="007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dirty="0"/>
              <a:t>GIS + OLS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073" y="2931435"/>
            <a:ext cx="112104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52D40"/>
                </a:solidFill>
                <a:latin typeface="Aptos Display"/>
              </a:defRPr>
            </a:pPr>
            <a:r>
              <a:rPr lang="en-US" sz="5400" dirty="0"/>
              <a:t>Rat</a:t>
            </a:r>
            <a:r>
              <a:rPr sz="5400" dirty="0"/>
              <a:t> Density and</a:t>
            </a:r>
            <a:r>
              <a:rPr lang="en-US" sz="5400" dirty="0"/>
              <a:t> </a:t>
            </a:r>
            <a:r>
              <a:rPr sz="5400" dirty="0"/>
              <a:t>Wind Turbine Construction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77239" y="1548301"/>
            <a:ext cx="7295841" cy="3295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Map the county-level distribution of wind turbine construction and rat density.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Test whether rat density is spatially clustered using General G and Moran</a:t>
            </a:r>
            <a:r>
              <a:rPr lang="en-US" dirty="0"/>
              <a:t>'</a:t>
            </a:r>
            <a:r>
              <a:rPr dirty="0"/>
              <a:t>s I.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Identify hot spots, cold spots, clusters, and local outliers.</a:t>
            </a:r>
            <a:endParaRPr lang="en-US" dirty="0"/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50">
                <a:solidFill>
                  <a:srgbClr val="212529"/>
                </a:solidFill>
                <a:latin typeface="Aptos"/>
              </a:defRPr>
            </a:pPr>
            <a:endParaRPr dirty="0"/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Use OLS regression to examine the relationship between construction timing and rat density.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Interpret the model carefully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948587" y="338328"/>
            <a:ext cx="1965960" cy="310896"/>
          </a:xfrm>
          <a:prstGeom prst="roundRect">
            <a:avLst/>
          </a:prstGeom>
          <a:solidFill>
            <a:srgbClr val="007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dirty="0"/>
              <a:t>GIS source 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6355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2D40"/>
                </a:solidFill>
                <a:latin typeface="Aptos"/>
              </a:defRPr>
            </a:pPr>
            <a:r>
              <a:t>Wind Turbine Construction in China</a:t>
            </a:r>
          </a:p>
        </p:txBody>
      </p:sp>
      <p:pic>
        <p:nvPicPr>
          <p:cNvPr id="5" name="Picture 4" descr="source_ppt_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011679"/>
            <a:ext cx="6583680" cy="37033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88352" y="1417320"/>
            <a:ext cx="54864" cy="4434840"/>
          </a:xfrm>
          <a:prstGeom prst="rect">
            <a:avLst/>
          </a:prstGeom>
          <a:solidFill>
            <a:srgbClr val="E1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07808" y="13716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991"/>
                </a:solidFill>
                <a:latin typeface="Aptos"/>
              </a:defRPr>
            </a:pPr>
            <a:r>
              <a:t>Brief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47088"/>
            <a:ext cx="39776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This map shows when counties first had wind turbine construction projects.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Darker green areas represent earlier construction years, while lighter areas represent later development.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It provides the explanatory spatial variable used later in the regression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23620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70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338328"/>
            <a:ext cx="1965960" cy="310896"/>
          </a:xfrm>
          <a:prstGeom prst="roundRect">
            <a:avLst/>
          </a:prstGeom>
          <a:solidFill>
            <a:srgbClr val="007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GIS source 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6355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2D40"/>
                </a:solidFill>
                <a:latin typeface="Aptos"/>
              </a:defRPr>
            </a:pPr>
            <a:r>
              <a:t>Average Rat Density, 2012-2023</a:t>
            </a:r>
          </a:p>
        </p:txBody>
      </p:sp>
      <p:pic>
        <p:nvPicPr>
          <p:cNvPr id="5" name="Picture 4" descr="source_ppt_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011679"/>
            <a:ext cx="6583680" cy="37033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88352" y="1417320"/>
            <a:ext cx="54864" cy="4434840"/>
          </a:xfrm>
          <a:prstGeom prst="rect">
            <a:avLst/>
          </a:prstGeom>
          <a:solidFill>
            <a:srgbClr val="E1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07808" y="13716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991"/>
                </a:solidFill>
                <a:latin typeface="Aptos"/>
              </a:defRPr>
            </a:pPr>
            <a:r>
              <a:t>Brief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47088"/>
            <a:ext cx="39776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t>Rat density is mapped at the county level across China.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t>The distribution is spatially uneven, with many counties in medium to high density classes.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t>This map establishes the dependent variable for the spatial and regression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23620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70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080392" y="338905"/>
            <a:ext cx="1965960" cy="310896"/>
          </a:xfrm>
          <a:prstGeom prst="roundRect">
            <a:avLst/>
          </a:prstGeom>
          <a:solidFill>
            <a:srgbClr val="007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Spatial statistics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1476" y="1001896"/>
            <a:ext cx="6355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2D40"/>
                </a:solidFill>
                <a:latin typeface="Aptos"/>
              </a:defRPr>
            </a:pPr>
            <a:r>
              <a:rPr dirty="0"/>
              <a:t>Spatial Autocorrelation Report</a:t>
            </a:r>
          </a:p>
        </p:txBody>
      </p:sp>
      <p:pic>
        <p:nvPicPr>
          <p:cNvPr id="5" name="Picture 4" descr="source_ppt_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76" y="1679229"/>
            <a:ext cx="5005220" cy="28154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16200000">
            <a:off x="5813553" y="-1825684"/>
            <a:ext cx="54864" cy="4434840"/>
          </a:xfrm>
          <a:prstGeom prst="rect">
            <a:avLst/>
          </a:prstGeom>
          <a:solidFill>
            <a:srgbClr val="E1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3208" y="4494665"/>
            <a:ext cx="39776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Global Moran's I is 0.118399 with z = 32.261 and p = 0.000.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The positive Moran's I indicates clear spatial clustering of rat density.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Nearby counties tend to have more similar rat density values than expected by chance.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23620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70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10" name="Picture 4" descr="source_ppt_slid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054" y="1583327"/>
            <a:ext cx="5100452" cy="286900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910BD3F-5840-ACDC-8F65-3CDD7AC46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628" y="1001896"/>
            <a:ext cx="6480610" cy="749873"/>
          </a:xfrm>
          <a:prstGeom prst="rect">
            <a:avLst/>
          </a:prstGeom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272CA4E1-F8D1-3170-2510-767AA5A0C74B}"/>
              </a:ext>
            </a:extLst>
          </p:cNvPr>
          <p:cNvSpPr txBox="1"/>
          <p:nvPr/>
        </p:nvSpPr>
        <p:spPr>
          <a:xfrm>
            <a:off x="6966556" y="4462153"/>
            <a:ext cx="39776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The General G statistic tests whether high or low values cluster spatially.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The z-score is -11.94 with p = 0.000, indicating statistically significant low-value clustering.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This means the observed pattern is unlikely to be random.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022727" y="338328"/>
            <a:ext cx="1965960" cy="310896"/>
          </a:xfrm>
          <a:prstGeom prst="roundRect">
            <a:avLst/>
          </a:prstGeom>
          <a:solidFill>
            <a:srgbClr val="007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Local spatial association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6355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2D40"/>
                </a:solidFill>
                <a:latin typeface="Aptos"/>
              </a:defRPr>
            </a:pPr>
            <a:r>
              <a:t>Rat Density Clusters and Outliers</a:t>
            </a:r>
          </a:p>
        </p:txBody>
      </p:sp>
      <p:pic>
        <p:nvPicPr>
          <p:cNvPr id="5" name="Picture 4" descr="source_ppt_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011679"/>
            <a:ext cx="6583680" cy="37033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88352" y="1417320"/>
            <a:ext cx="54864" cy="4434840"/>
          </a:xfrm>
          <a:prstGeom prst="rect">
            <a:avLst/>
          </a:prstGeom>
          <a:solidFill>
            <a:srgbClr val="E1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07808" y="13716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991"/>
                </a:solidFill>
                <a:latin typeface="Aptos"/>
              </a:defRPr>
            </a:pPr>
            <a:r>
              <a:t>Brief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47088"/>
            <a:ext cx="39776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t>The cluster-outlier map separates high-high, low-low, and local outlier counties.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t>High-high clusters indicate neighboring counties with similarly high rat density.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t>High-low and low-high outliers point to local exceptions that may deserve closer investigation.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23620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70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039203" y="338328"/>
            <a:ext cx="1965960" cy="310896"/>
          </a:xfrm>
          <a:prstGeom prst="roundRect">
            <a:avLst/>
          </a:prstGeom>
          <a:solidFill>
            <a:srgbClr val="007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Hot spot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6355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2D40"/>
                </a:solidFill>
                <a:latin typeface="Aptos"/>
              </a:defRPr>
            </a:pPr>
            <a:r>
              <a:t>Hot Spots and Cold Spots</a:t>
            </a:r>
          </a:p>
        </p:txBody>
      </p:sp>
      <p:pic>
        <p:nvPicPr>
          <p:cNvPr id="5" name="Picture 4" descr="source_ppt_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011679"/>
            <a:ext cx="6583680" cy="37033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88352" y="1417320"/>
            <a:ext cx="54864" cy="4434840"/>
          </a:xfrm>
          <a:prstGeom prst="rect">
            <a:avLst/>
          </a:prstGeom>
          <a:solidFill>
            <a:srgbClr val="E1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07808" y="13716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991"/>
                </a:solidFill>
                <a:latin typeface="Aptos"/>
              </a:defRPr>
            </a:pPr>
            <a:r>
              <a:t>Brief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47088"/>
            <a:ext cx="39776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Red areas identify statistically significant hot spots of high rat density.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Blue areas identify statistically significant cold spots of low rat density.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Hot spots concentrate mainly in southern and southeastern regions, while cold spots appear in several northern and northeastern areas.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23620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70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338328"/>
            <a:ext cx="1600200" cy="310896"/>
          </a:xfrm>
          <a:prstGeom prst="roundRect">
            <a:avLst/>
          </a:prstGeom>
          <a:solidFill>
            <a:srgbClr val="007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PDF page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6355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2D40"/>
                </a:solidFill>
                <a:latin typeface="Aptos"/>
              </a:defRPr>
            </a:pPr>
            <a:r>
              <a:rPr dirty="0"/>
              <a:t>OLS Parameter Settings</a:t>
            </a:r>
          </a:p>
        </p:txBody>
      </p:sp>
      <p:pic>
        <p:nvPicPr>
          <p:cNvPr id="5" name="Picture 4" descr="pdf_pag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20" y="1325880"/>
            <a:ext cx="6567543" cy="5074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88352" y="1417320"/>
            <a:ext cx="54864" cy="4434840"/>
          </a:xfrm>
          <a:prstGeom prst="rect">
            <a:avLst/>
          </a:prstGeom>
          <a:solidFill>
            <a:srgbClr val="E1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07808" y="13716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991"/>
                </a:solidFill>
                <a:latin typeface="Aptos"/>
              </a:defRPr>
            </a:pPr>
            <a:r>
              <a:t>Brief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47088"/>
            <a:ext cx="39776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This page records the OLS input settings and output location.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Input features are county-level records, with rat density as the dependent variable.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The explanatory variable is CONST_YEAR, representing wind turbine construction timing.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23620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70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4651" y="822960"/>
            <a:ext cx="6355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2D40"/>
                </a:solidFill>
                <a:latin typeface="Aptos"/>
              </a:defRPr>
            </a:pPr>
            <a:r>
              <a:rPr dirty="0"/>
              <a:t>OLS Diagnostic Summary</a:t>
            </a:r>
          </a:p>
        </p:txBody>
      </p:sp>
      <p:pic>
        <p:nvPicPr>
          <p:cNvPr id="5" name="Picture 4" descr="pdf_p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20" y="1325880"/>
            <a:ext cx="6567543" cy="5074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88352" y="1417320"/>
            <a:ext cx="54864" cy="4434840"/>
          </a:xfrm>
          <a:prstGeom prst="rect">
            <a:avLst/>
          </a:prstGeom>
          <a:solidFill>
            <a:srgbClr val="E1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07808" y="13716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991"/>
                </a:solidFill>
                <a:latin typeface="Aptos"/>
              </a:defRPr>
            </a:pPr>
            <a:r>
              <a:t>Brief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47088"/>
            <a:ext cx="39776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The model includes 2,659 observations.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R-squared is 0.005595 and adjusted R-squared is 0.005220, so explanatory power is very limited.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The model is statistically significant, but diagnostics suggest caution because residuals are not perfectly normal and heteroskedasticity is present.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23620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70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13CCDD7-552F-8DD1-9F44-0804F294F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955" y="355899"/>
            <a:ext cx="1688738" cy="4023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039204" y="338328"/>
            <a:ext cx="1600200" cy="310896"/>
          </a:xfrm>
          <a:prstGeom prst="roundRect">
            <a:avLst/>
          </a:prstGeom>
          <a:solidFill>
            <a:srgbClr val="007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OLS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6355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2D40"/>
                </a:solidFill>
                <a:latin typeface="Aptos"/>
              </a:defRPr>
            </a:pPr>
            <a:r>
              <a:t>OLS Coefficient Summary</a:t>
            </a:r>
          </a:p>
        </p:txBody>
      </p:sp>
      <p:pic>
        <p:nvPicPr>
          <p:cNvPr id="5" name="Picture 4" descr="source_ppt_slide_07.png"/>
          <p:cNvPicPr>
            <a:picLocks noChangeAspect="1"/>
          </p:cNvPicPr>
          <p:nvPr/>
        </p:nvPicPr>
        <p:blipFill>
          <a:blip r:embed="rId2"/>
          <a:srcRect t="31542" r="24345" b="37316"/>
          <a:stretch>
            <a:fillRect/>
          </a:stretch>
        </p:blipFill>
        <p:spPr>
          <a:xfrm>
            <a:off x="2057210" y="1450106"/>
            <a:ext cx="7438925" cy="1722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55224" y="3382003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991"/>
                </a:solidFill>
                <a:latin typeface="Aptos"/>
              </a:defRPr>
            </a:pPr>
            <a:r>
              <a:rPr dirty="0"/>
              <a:t>Brief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22056" y="3739484"/>
            <a:ext cx="3977639" cy="1928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The OLS result shows a positive and statistically significant two-variable relationship.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This supports a preliminary association between wind turbine construction timing and rat density.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23620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70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047441" y="322429"/>
            <a:ext cx="1600200" cy="310896"/>
          </a:xfrm>
          <a:prstGeom prst="roundRect">
            <a:avLst/>
          </a:prstGeom>
          <a:solidFill>
            <a:srgbClr val="007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dirty="0"/>
              <a:t>Regression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6355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2D40"/>
                </a:solidFill>
                <a:latin typeface="Aptos"/>
              </a:defRPr>
            </a:pPr>
            <a:r>
              <a:t>Standardized OLS Values</a:t>
            </a:r>
          </a:p>
        </p:txBody>
      </p:sp>
      <p:pic>
        <p:nvPicPr>
          <p:cNvPr id="5" name="Picture 4" descr="source_ppt_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011679"/>
            <a:ext cx="6583680" cy="37033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88352" y="1417320"/>
            <a:ext cx="54864" cy="4434840"/>
          </a:xfrm>
          <a:prstGeom prst="rect">
            <a:avLst/>
          </a:prstGeom>
          <a:solidFill>
            <a:srgbClr val="E1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07808" y="13716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991"/>
                </a:solidFill>
                <a:latin typeface="Aptos"/>
              </a:defRPr>
            </a:pPr>
            <a:r>
              <a:t>Brief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47088"/>
            <a:ext cx="39776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t>This map shows standardized OLS output values across counties.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t>Counties far from zero indicate places where the model result differs more strongly from the average pattern.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t>It helps locate areas where model behavior is unusually high or 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23620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70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956825" y="345248"/>
            <a:ext cx="1600200" cy="310896"/>
          </a:xfrm>
          <a:prstGeom prst="roundRect">
            <a:avLst/>
          </a:prstGeom>
          <a:solidFill>
            <a:srgbClr val="007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Regression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6355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2D40"/>
                </a:solidFill>
                <a:latin typeface="Aptos"/>
              </a:defRPr>
            </a:pPr>
            <a:r>
              <a:t>Estimated Values from OLS</a:t>
            </a:r>
          </a:p>
        </p:txBody>
      </p:sp>
      <p:pic>
        <p:nvPicPr>
          <p:cNvPr id="5" name="Picture 4" descr="source_ppt_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011679"/>
            <a:ext cx="6583680" cy="37033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88352" y="1417320"/>
            <a:ext cx="54864" cy="4434840"/>
          </a:xfrm>
          <a:prstGeom prst="rect">
            <a:avLst/>
          </a:prstGeom>
          <a:solidFill>
            <a:srgbClr val="E1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07808" y="13716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991"/>
                </a:solidFill>
                <a:latin typeface="Aptos"/>
              </a:defRPr>
            </a:pPr>
            <a:r>
              <a:t>Brief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47088"/>
            <a:ext cx="39776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The OLS estimated value map shows predicted rat density values by county.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The value range is narrow, suggesting that the simple model explains only limited variation.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Spatial differences remain, so further explanatory variables may be needed.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23620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70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713232"/>
            <a:ext cx="6355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2D40"/>
                </a:solidFill>
                <a:latin typeface="Aptos"/>
              </a:defRPr>
            </a:pPr>
            <a:r>
              <a:rPr dirty="0"/>
              <a:t>Variable Distributions and Relationship</a:t>
            </a:r>
          </a:p>
        </p:txBody>
      </p:sp>
      <p:pic>
        <p:nvPicPr>
          <p:cNvPr id="5" name="Picture 4" descr="pdf_p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05" y="1691640"/>
            <a:ext cx="6567543" cy="5074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88352" y="1417320"/>
            <a:ext cx="54864" cy="4434840"/>
          </a:xfrm>
          <a:prstGeom prst="rect">
            <a:avLst/>
          </a:prstGeom>
          <a:solidFill>
            <a:srgbClr val="E1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07808" y="13716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991"/>
                </a:solidFill>
                <a:latin typeface="Aptos"/>
              </a:defRPr>
            </a:pPr>
            <a:r>
              <a:t>Brief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47088"/>
            <a:ext cx="39776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t>The histograms show the distributions of the dependent and explanatory variables.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t>The scatter plot shows only a weak linear relationship, even though the fitted line is slightly positive.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t>This helps explain why the coefficient is significant but the R-squared remains 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23620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70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713232"/>
            <a:ext cx="6355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2D40"/>
                </a:solidFill>
                <a:latin typeface="Aptos"/>
              </a:defRPr>
            </a:pPr>
            <a:r>
              <a:t>Standardized Residual Histogram</a:t>
            </a:r>
          </a:p>
        </p:txBody>
      </p:sp>
      <p:pic>
        <p:nvPicPr>
          <p:cNvPr id="5" name="Picture 4" descr="pdf_p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20" y="1325880"/>
            <a:ext cx="6567543" cy="5074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88352" y="1417320"/>
            <a:ext cx="54864" cy="4434840"/>
          </a:xfrm>
          <a:prstGeom prst="rect">
            <a:avLst/>
          </a:prstGeom>
          <a:solidFill>
            <a:srgbClr val="E1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07808" y="13716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991"/>
                </a:solidFill>
                <a:latin typeface="Aptos"/>
              </a:defRPr>
            </a:pPr>
            <a:r>
              <a:t>Brief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47088"/>
            <a:ext cx="39776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t>The residual histogram is compared with a normal curve.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t>Most residuals are near zero, but the left tail is longer than ideal.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t>This supports the diagnostic warning that the residuals are not perfectly normally distributed.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23620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70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713232"/>
            <a:ext cx="6355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52D40"/>
                </a:solidFill>
                <a:latin typeface="Aptos"/>
              </a:defRPr>
            </a:pPr>
            <a:r>
              <a:t>Residuals Versus Predicted Values</a:t>
            </a:r>
          </a:p>
        </p:txBody>
      </p:sp>
      <p:pic>
        <p:nvPicPr>
          <p:cNvPr id="5" name="Picture 4" descr="pdf_pag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427" y="1325880"/>
            <a:ext cx="3921529" cy="5074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88352" y="1417320"/>
            <a:ext cx="54864" cy="4434840"/>
          </a:xfrm>
          <a:prstGeom prst="rect">
            <a:avLst/>
          </a:prstGeom>
          <a:solidFill>
            <a:srgbClr val="E1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07808" y="13716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991"/>
                </a:solidFill>
                <a:latin typeface="Aptos"/>
              </a:defRPr>
            </a:pPr>
            <a:r>
              <a:t>Brief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47088"/>
            <a:ext cx="39776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This plot checks whether residuals are randomly distributed around zero.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The vertical bands and wide residual spread show that prediction errors remain substantial.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The model captures a statistically detectable trend, but it is not sufficient as a strong prediction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23620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70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1170432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52D40"/>
                </a:solidFill>
                <a:latin typeface="Aptos Display"/>
              </a:defRPr>
            </a:pPr>
            <a:r>
              <a:t>Main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5760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Rat density is not randomly distributed; it shows clear spatial clustering.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Hot spot and cluster maps identify priority areas for further investigation.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OLS shows a statistically significant positive relationship with wind turbine construction timing.</a:t>
            </a:r>
          </a:p>
          <a:p>
            <a:pPr>
              <a:spcAft>
                <a:spcPts val="1000"/>
              </a:spcAft>
              <a:defRPr sz="1850">
                <a:solidFill>
                  <a:srgbClr val="212529"/>
                </a:solidFill>
                <a:latin typeface="Aptos"/>
              </a:defRPr>
            </a:pPr>
            <a:r>
              <a:rPr dirty="0"/>
              <a:t>Because R-squared is very low, the result should be treated as preliminary evidence rather than a complete explanation.</a:t>
            </a:r>
          </a:p>
        </p:txBody>
      </p:sp>
      <p:pic>
        <p:nvPicPr>
          <p:cNvPr id="6" name="Picture 5" descr="source_ppt_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985962"/>
            <a:ext cx="4480560" cy="25203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802</Words>
  <Application>Microsoft Office PowerPoint</Application>
  <PresentationFormat>宽屏</PresentationFormat>
  <Paragraphs>101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yuyuio</dc:creator>
  <cp:keywords/>
  <dc:description>generated using python-pptx</dc:description>
  <cp:lastModifiedBy>Zhuoyu LIU</cp:lastModifiedBy>
  <cp:revision>3</cp:revision>
  <dcterms:created xsi:type="dcterms:W3CDTF">2013-01-27T09:14:16Z</dcterms:created>
  <dcterms:modified xsi:type="dcterms:W3CDTF">2026-05-03T01:47:04Z</dcterms:modified>
  <cp:category/>
</cp:coreProperties>
</file>